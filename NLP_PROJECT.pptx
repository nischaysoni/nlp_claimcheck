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e222a5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ee222a5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e222a5cc_2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e222a5cc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e222a5cc_1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ee222a5c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e222a5cc_1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ee222a5cc_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ee222a5cc_1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ee222a5cc_1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e222a5cc_1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e222a5cc_1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ee222a5cc_1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ee222a5cc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ee222a5cc_1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ee222a5cc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ee222a5cc_1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ee222a5cc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e222a5cc_1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ee222a5cc_1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e6070b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ee6070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ee222a5cc_1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ee222a5cc_1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ee222a5cc_1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ee222a5cc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9715500" y="4749800"/>
            <a:ext cx="24765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063671"/>
            <a:ext cx="9753600" cy="1875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486400" y="3240578"/>
            <a:ext cx="5791200" cy="204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  <a:defRPr sz="24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5486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914400" y="3089628"/>
            <a:ext cx="1036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34784"/>
            <a:ext cx="3014164" cy="1658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6000"/>
              <a:buFont typeface="Quattrocento Sans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5263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45127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45127" y="1381181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845127" y="2206880"/>
            <a:ext cx="5156200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172200" y="1381182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172200" y="2206880"/>
            <a:ext cx="5181601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841248" y="457200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3703449" y="-1477140"/>
            <a:ext cx="4798956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7133431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799431" y="-600869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8724900" y="370119"/>
            <a:ext cx="0" cy="5806281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914399" y="1381181"/>
            <a:ext cx="5112328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6244770" y="1381181"/>
            <a:ext cx="5105400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914399" y="1262291"/>
            <a:ext cx="5086928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914399" y="2154891"/>
            <a:ext cx="5086928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6230257" y="1262288"/>
            <a:ext cx="5105400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230257" y="2154891"/>
            <a:ext cx="5105400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3715859" y="-1496477"/>
            <a:ext cx="4767210" cy="10522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552250" y="1063675"/>
            <a:ext cx="107253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 sz="5622"/>
              <a:t>Explainable </a:t>
            </a:r>
            <a:r>
              <a:rPr lang="en-US" sz="5622"/>
              <a:t>Claim: Claim</a:t>
            </a:r>
            <a:r>
              <a:rPr lang="en-US"/>
              <a:t> </a:t>
            </a:r>
            <a:r>
              <a:rPr lang="en-US"/>
              <a:t>check worthiness using rationality labels</a:t>
            </a:r>
            <a:r>
              <a:rPr lang="en-US"/>
              <a:t> </a:t>
            </a:r>
            <a:endParaRPr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5486400" y="3240574"/>
            <a:ext cx="57912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3000"/>
              <a:t>G25</a:t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3000"/>
              <a:t>Ritvik Shekhar (2023440)</a:t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3000"/>
              <a:t>Hitesh </a:t>
            </a:r>
            <a:r>
              <a:rPr lang="en-US" sz="3000"/>
              <a:t>Bhat (2023244)</a:t>
            </a:r>
            <a:r>
              <a:rPr lang="en-US" sz="3000"/>
              <a:t> </a:t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3000"/>
              <a:t>Nischay </a:t>
            </a:r>
            <a:r>
              <a:rPr lang="en-US" sz="3000"/>
              <a:t>Soni (2023353)</a:t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44125" y="1381175"/>
            <a:ext cx="7800300" cy="538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845125" y="1674125"/>
            <a:ext cx="71829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Social media has transformed information sharing making it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instant, global, and widely accessible</a:t>
            </a:r>
            <a:endParaRPr b="1"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However, this rapid spread has also led to a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rise in misinformation and false claims</a:t>
            </a:r>
            <a:endParaRPr b="1"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Such misinformation can have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serious real-world consequences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, including: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Quattrocento Sans"/>
              <a:buChar char="●"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Misleading public opinion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attrocento Sans"/>
              <a:buChar char="●"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Threats to public health (e.g., COVID misinformation)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attrocento Sans"/>
              <a:buChar char="●"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Social and political instability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Due to the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massive volume of online content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, manual verification is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not feasible</a:t>
            </a:r>
            <a:endParaRPr b="1"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Therefore, there is a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critical need for automated systems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to identify claims that require fact-checking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680075" y="1381175"/>
            <a:ext cx="2591700" cy="1686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@user1:US tax dollars allowed to fund a coronavirus project in Wuhan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680075" y="3256700"/>
            <a:ext cx="2420100" cy="1686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@user2:If you have ever eaten raw cookie dough you are immune to the coronavirus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523925" y="5132225"/>
            <a:ext cx="3419700" cy="1342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These are some of the example of tweets which can lead to misinformation in the people of country. The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first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tweet can even lead to protest against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government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845125" y="1381175"/>
            <a:ext cx="6117300" cy="487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Quattrocento Sans"/>
              <a:buChar char="●"/>
            </a:pP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We use the </a:t>
            </a:r>
            <a:r>
              <a:rPr b="1"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CheckIt dataset (Sundriyal et al., 2025)</a:t>
            </a: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, a large-scale, manually annotated Twitter corpus, for explainable claim check-worthiness detection. The dataset comprises </a:t>
            </a:r>
            <a:r>
              <a:rPr b="1"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5,920 claims sourced from COVID-19 and political discourse on Twitter</a:t>
            </a: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 sz="2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Quattrocento Sans"/>
              <a:buChar char="●"/>
            </a:pP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The DataSet Contained 6 rationality labels For verifying Claim Cheek Worthiness. The Labels are shown in the Table II.</a:t>
            </a:r>
            <a:endParaRPr sz="2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Quattrocento Sans"/>
              <a:buChar char="●"/>
            </a:pP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The Distribution of Data is shown in Table I.</a:t>
            </a:r>
            <a:endParaRPr sz="2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Quattrocento Sans"/>
              <a:buChar char="●"/>
            </a:pPr>
            <a:r>
              <a:rPr lang="en-US" sz="2100">
                <a:latin typeface="Quattrocento Sans"/>
                <a:ea typeface="Quattrocento Sans"/>
                <a:cs typeface="Quattrocento Sans"/>
                <a:sym typeface="Quattrocento Sans"/>
              </a:rPr>
              <a:t>The dataset is split into training (70%), validation (15%), and test (15%) sets. </a:t>
            </a:r>
            <a:endParaRPr sz="2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050" y="1381175"/>
            <a:ext cx="4897000" cy="48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Baselines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845125" y="1381175"/>
            <a:ext cx="10515600" cy="498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SVM + TF-IDF: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A classical baseline inspired by early claim check-worthiness systems such as ClaimBuster. Claims are represented using TF-IDF features and classified with a LinearSVC. This provides a strong non-neural reference point.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BERT (Fine-tuned): 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A pretrained BERT-base-uncased model fine-tuned on the CheckIt training set for binary check-worthiness classification. Extended with multi-head outputs for rationality label prediction.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RoBERTa (Fine-tuned):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A robustly optimised BERT variant fine-tuned for the downstream task. RoBERTa's improved pretraining methodology yields stronger contextual representations than BERT.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XLNet(Fine-tuned):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An autoregressive transformer fine-tuned for check-worthiness classification. XLNet captures bidirectional context through permutation-based language modelling, offering complementary strengths to BERT-style models.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CheckMate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: The current state-of-the-art, which combines a contextual network (CoNet) and a linguistic network (LiNet) with attention heads specialised per rationality label. CheckMate is our primary point of comparison.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 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38800" y="1381175"/>
            <a:ext cx="6589500" cy="345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We propose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Claim-Aware Contrastive Learning (CACL)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, a multi-label contrastive learning framework built on the principle that check-worthiness is a consequence of specific rationality factors. The architecture consists of four main components: 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(1) a BERT-based token encoder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(2) a Claim-Level Embedding Network (CLEN)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(3) a Rationality Aggregator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(4) a Prediction Head 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1900" y="1282800"/>
            <a:ext cx="5134950" cy="53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451100" y="5025200"/>
            <a:ext cx="6277200" cy="1509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1: </a:t>
            </a:r>
            <a:r>
              <a:rPr b="1"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architecture of the claim-level embedding network. We have a query matrix that queries for the signal of that rationality label in the claim. We have used multihead attention to do so.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317300" y="5262875"/>
            <a:ext cx="4694100" cy="14472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Stage 2: It represents how the prediction is made for each rationality head. The L_rat is a loss function used for rationality prediction. L_con is a loss to bring the same rationality together. Clustering is performed on a batch of inputs. 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06" name="Google Shape;2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00" y="1160638"/>
            <a:ext cx="3533575" cy="39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0875" y="1539750"/>
            <a:ext cx="3812750" cy="31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5350075" y="5262875"/>
            <a:ext cx="5352600" cy="14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3: This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denotes how claim check worthiness is predicted.   The vectors of R1… R6 are taken as a weighted  average, and the resulting vector output is passed through the linear layer for making the prediction. </a:t>
            </a:r>
            <a:endParaRPr b="1"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7497900" y="1313800"/>
            <a:ext cx="46941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Did The Training Happen?</a:t>
            </a:r>
            <a:endParaRPr b="1" sz="1800" u="sng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Initially, the model is trained to predict: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Check-worthiness (CW) and Rationality labels.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helps the model to  learn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meaningful initial embeddings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capture: Semantic information and Rationality-related features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Once the embeddings become sufficiently informative, we introduce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contrastive learning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this stage: Embeddings of claims with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 rationality labels are pulled closer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-2328325" y="5888875"/>
            <a:ext cx="1092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7513" y="4655050"/>
            <a:ext cx="33337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and Observations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5" y="1266375"/>
            <a:ext cx="10515600" cy="421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F1 score for </a:t>
            </a:r>
            <a:r>
              <a:rPr lang="en-US"/>
              <a:t>rationality</a:t>
            </a:r>
            <a:r>
              <a:rPr lang="en-US"/>
              <a:t> Labels</a:t>
            </a:r>
            <a:endParaRPr/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5" y="1381175"/>
            <a:ext cx="9666550" cy="38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Ablation</a:t>
            </a:r>
            <a:endParaRPr/>
          </a:p>
        </p:txBody>
      </p:sp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5" y="1191950"/>
            <a:ext cx="8269013" cy="55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Ablation and Analysis </a:t>
            </a:r>
            <a:endParaRPr/>
          </a:p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6572075" y="1381175"/>
            <a:ext cx="50592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Ablation: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Label queries are crucial as they extract rationality-specific information.This is one of the most important </a:t>
            </a:r>
            <a:r>
              <a:rPr lang="en-US" sz="2000"/>
              <a:t>component</a:t>
            </a:r>
            <a:r>
              <a:rPr lang="en-US" sz="2000"/>
              <a:t> of our </a:t>
            </a:r>
            <a:r>
              <a:rPr lang="en-US" sz="2000"/>
              <a:t>architecture</a:t>
            </a:r>
            <a:r>
              <a:rPr lang="en-U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Contrastive learning also helps to learn better class representation.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Weighted aggregation helps the model focus on more relevant rationality factors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Analysis: 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model performs better on check-worthy claims, but struggles with non-check-worthy cases, often misclassifying them as check-worthy. </a:t>
            </a:r>
            <a:endParaRPr sz="2000"/>
          </a:p>
        </p:txBody>
      </p:sp>
      <p:pic>
        <p:nvPicPr>
          <p:cNvPr id="239" name="Google Shape;239;p28"/>
          <p:cNvPicPr preferRelativeResize="0"/>
          <p:nvPr/>
        </p:nvPicPr>
        <p:blipFill rotWithShape="1">
          <a:blip r:embed="rId3">
            <a:alphaModFix/>
          </a:blip>
          <a:srcRect b="0" l="0" r="52075" t="0"/>
          <a:stretch/>
        </p:blipFill>
        <p:spPr>
          <a:xfrm>
            <a:off x="749500" y="1490375"/>
            <a:ext cx="5244826" cy="479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 Analysis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We qualitatively examine misclassified examples to identify persistent failure modes:</a:t>
            </a:r>
            <a:endParaRPr sz="22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●​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 Sarcasm/joke: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 Claims such as '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If we all stop breathing, the spread would stop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' are misclassified because the model is not able to understand that whether it is a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 joke or sarcasm.</a:t>
            </a:r>
            <a:endParaRPr sz="22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●​ 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Subtle public-interest claims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: Short 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claims without explicit harm-related keywords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 but with broad 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public relevance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 (e.g., claims like “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updates has beem made in </a:t>
            </a:r>
            <a:r>
              <a:rPr b="1"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government policy”</a:t>
            </a:r>
            <a:r>
              <a:rPr lang="en-US" sz="2200">
                <a:latin typeface="Quattrocento Sans"/>
                <a:ea typeface="Quattrocento Sans"/>
                <a:cs typeface="Quattrocento Sans"/>
                <a:sym typeface="Quattrocento Sans"/>
              </a:rPr>
              <a:t>) remain challenging for the model, suggesting that additional factual knowledge injection could be beneficial.</a:t>
            </a:r>
            <a:endParaRPr sz="22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 And conclusion</a:t>
            </a:r>
            <a:endParaRPr/>
          </a:p>
        </p:txBody>
      </p:sp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838202" y="15725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We introduced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CACL (Claim-Aware Contrastive Learning)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, a framework for explainable claim check-worthiness detection that models check-worthiness through underlying rationality factors. By combining a Claim-Level Embedding Network, rationality-specific cross-attention, a weighted aggregation module, and supervised contrastive learning, CACL achieves state-of-the-art performance on the CheckIt dataset with consistent gains across all rationality labels. Ablation studies confirm the effectiveness of each component. 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Future work includes extending CACL to multilingual settings, especially for low-resource languages, and 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incorporating external knowledge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to better handle nuanced claims as seen in the error analysis.</a:t>
            </a:r>
            <a:r>
              <a:rPr b="1"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 Expanding to multimodal data (images and memes) </a:t>
            </a:r>
            <a:r>
              <a:rPr lang="en-US" sz="2000">
                <a:latin typeface="Quattrocento Sans"/>
                <a:ea typeface="Quattrocento Sans"/>
                <a:cs typeface="Quattrocento Sans"/>
                <a:sym typeface="Quattrocento Sans"/>
              </a:rPr>
              <a:t>are also promising directions.</a:t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Prompts Used</a:t>
            </a:r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can we use contrastive learning for multi-label rationality prediction in claim check-worthiness detection?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is the rationality loss and contrastive loss calculated in a joint learning framework?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should the CW head be connected to the rationality embeddings to make predictions explainable?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do we design a fair ablation study when the full model uses two-phase training?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should BERT parameters be handled differently from task-specific heads during two-phase training to prevent representation degradation?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Contributions</a:t>
            </a:r>
            <a:endParaRPr/>
          </a:p>
        </p:txBody>
      </p:sp>
      <p:sp>
        <p:nvSpPr>
          <p:cNvPr id="263" name="Google Shape;263;p32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Report: Hitesh Bhat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Implementation Of Baseline: Nischay Soni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CACL </a:t>
            </a:r>
            <a:r>
              <a:rPr lang="en-US"/>
              <a:t>Architecture</a:t>
            </a:r>
            <a:r>
              <a:rPr lang="en-US"/>
              <a:t> Design : Ritvik Shekhar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